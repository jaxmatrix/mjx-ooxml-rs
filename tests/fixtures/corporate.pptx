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embeddings/Microsoft_Excel_Sheet1.xlsx" ContentType="application/vnd.openxmlformats-officedocument.spreadsheetml.sheet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tableStyles.xml" ContentType="application/vnd.openxmlformats-officedocument.presentationml.tableStyles+xml"/>
  <Override PartName="/ppt/diagrams/drawing1.xml" ContentType="application/vnd.ms-office.drawingml.diagramDrawing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tableStyles.xml><?xml version="1.0" encoding="utf-8"?>
<a:tblStyleLst xmlns:a="http://schemas.openxmlformats.org/drawingml/2006/main" def="{9F6E9C1B-0B4E-4A1E-9B3D-6C2A8F4D7E10}">
  <a:tblStyle styleId="{9F6E9C1B-0B4E-4A1E-9B3D-6C2A8F4D7E10}" styleName="Themed Header and Banded Rows">
    <a:band1H>
      <a:tcStyle>
        <a:fill>
          <a:solidFill>
            <a:schemeClr val="accent1">
              <a:lumMod val="20000"/>
              <a:lumOff val="80000"/>
            </a:schemeClr>
          </a:solidFill>
        </a:fill>
      </a:tcStyle>
    </a:band1H>
    <a:firstRow>
      <a:tcTxStyle b="on">
        <a:schemeClr val="lt1"/>
      </a:tcTxStyle>
      <a:tcStyle>
        <a:fill>
          <a:solidFill>
            <a:schemeClr val="accent1"/>
          </a:solidFill>
        </a:fill>
      </a:tcStyle>
    </a:firstRow>
  </a:tblStyle>
</a:tblStyleLst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barChart>
        <c:barDir val="col"/>
        <c:grouping val="clustered"/>
        <c:ser>
          <c:idx val="0"/>
          <c:order val="0"/>
          <c:tx>
            <c:v>Revenue</c:v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15.5</c:v>
                </c:pt>
                <c:pt idx="2">
                  <c:v>14</c:v>
                </c:pt>
                <c:pt idx="3">
                  <c:v>19.25</c:v>
                </c:pt>
              </c:numCache>
            </c:numRef>
          </c:val>
        </c:ser>
        <c:ser>
          <c:idx val="1"/>
          <c:order val="1"/>
          <c:tx>
            <c:v>Cost</c:v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9.5</c:v>
                </c:pt>
                <c:pt idx="2">
                  <c:v>9</c:v>
                </c:pt>
                <c:pt idx="3">
                  <c:v>11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  <c:dispBlanksAs val="gap"/>
  </c:chart>
  <c:externalData r:id="rId1">
    <c:autoUpdate val="0"/>
  </c:externalData>
</c:chartSpace>
</file>

<file path=ppt/diagrams/_rels/data1.xml.rels><?xml version="1.0" encoding="UTF-8" standalone="yes"?><Relationships xmlns="http://schemas.openxmlformats.org/package/2006/relationships"><Relationship Id="rId10" Type="http://schemas.microsoft.com/office/2007/relationships/diagramDrawing" Target="drawing1.xml"/></Relationships>
</file>

<file path=ppt/diagrams/colors1.xml><?xml version="1.0" encoding="utf-8"?>
<dgm:colorsDef xmlns:dgm="http://schemas.openxmlformats.org/drawingml/2006/diagram" xmlns:a="http://schemas.openxmlformats.org/drawingml/2006/main" uniqueId="urn:mjx-ooxml/colors/accent1">
  <dgm:title val="Accent 1"/>
  <dgm:desc val="Fills every node from the theme's first accent colour."/>
  <dgm:catLst>
    <dgm:cat type="accent1" pri="110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1" type="doc">
      <dgm:prSet loTypeId="urn:mjx-ooxml/layout/verticalList" loCatId="list" qsTypeId="urn:mjx-ooxml/quickStyle/simple" qsCatId="simple" csTypeId="urn:mjx-ooxml/colors/accent1" csCatId="accent1"/>
      <dgm:t>
        <a:bodyPr/>
        <a:lstStyle/>
        <a:p>
          <a:endParaRPr lang="en-US"/>
        </a:p>
      </dgm:t>
    </dgm:pt>
    <dgm:pt modelId="10">
      <dgm:prSet phldrT="Plan"/>
      <dgm:t>
        <a:bodyPr/>
        <a:lstStyle/>
        <a:p>
          <a:r>
            <a:rPr lang="en-US"/>
            <a:t>Plan</a:t>
          </a:r>
        </a:p>
      </dgm:t>
    </dgm:pt>
    <dgm:pt modelId="11" type="parTrans" cxnId="12">
      <dgm:t>
        <a:bodyPr/>
        <a:lstStyle/>
        <a:p>
          <a:endParaRPr lang="en-US"/>
        </a:p>
      </dgm:t>
    </dgm:pt>
    <dgm:pt modelId="13" type="sibTrans" cxnId="12">
      <dgm:t>
        <a:bodyPr/>
        <a:lstStyle/>
        <a:p>
          <a:endParaRPr lang="en-US"/>
        </a:p>
      </dgm:t>
    </dgm:pt>
    <dgm:pt modelId="20">
      <dgm:prSet phldrT="Build"/>
      <dgm:t>
        <a:bodyPr/>
        <a:lstStyle/>
        <a:p>
          <a:r>
            <a:rPr lang="en-US"/>
            <a:t>Build</a:t>
          </a:r>
        </a:p>
      </dgm:t>
    </dgm:pt>
    <dgm:pt modelId="21" type="parTrans" cxnId="22">
      <dgm:t>
        <a:bodyPr/>
        <a:lstStyle/>
        <a:p>
          <a:endParaRPr lang="en-US"/>
        </a:p>
      </dgm:t>
    </dgm:pt>
    <dgm:pt modelId="23" type="sibTrans" cxnId="22">
      <dgm:t>
        <a:bodyPr/>
        <a:lstStyle/>
        <a:p>
          <a:endParaRPr lang="en-US"/>
        </a:p>
      </dgm:t>
    </dgm:pt>
    <dgm:pt modelId="30">
      <dgm:prSet phldrT="Ship"/>
      <dgm:t>
        <a:bodyPr/>
        <a:lstStyle/>
        <a:p>
          <a:r>
            <a:rPr lang="en-US"/>
            <a:t>Ship</a:t>
          </a:r>
        </a:p>
      </dgm:t>
    </dgm:pt>
    <dgm:pt modelId="31" type="parTrans" cxnId="32">
      <dgm:t>
        <a:bodyPr/>
        <a:lstStyle/>
        <a:p>
          <a:endParaRPr lang="en-US"/>
        </a:p>
      </dgm:t>
    </dgm:pt>
    <dgm:pt modelId="33" type="sibTrans" cxnId="32">
      <dgm:t>
        <a:bodyPr/>
        <a:lstStyle/>
        <a:p>
          <a:endParaRPr lang="en-US"/>
        </a:p>
      </dgm:t>
    </dgm:pt>
  </dgm:ptLst>
  <dgm:cxnLst>
    <dgm:cxn modelId="12" srcId="1" destId="10" srcOrd="0" destOrd="0" parTransId="11" sibTransId="13"/>
    <dgm:cxn modelId="22" srcId="1" destId="20" srcOrd="1" destOrd="0" parTransId="21" sibTransId="23"/>
    <dgm:cxn modelId="32" srcId="1" destId="30" srcOrd="2" destOrd="0" parTransId="31" sibTransId="33"/>
  </dgm:cxnLst>
  <dgm:whole/>
</dgm:dataModel>
</file>

<file path=ppt/diagrams/drawing1.xml><?xml version="1.0" encoding="utf-8"?>
<dsp:drawing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2C4F4E-0001-4E2E-9F4E-000000000001}">
      <dsp:nvSpPr>
        <dsp:cNvPr id="0" name=""/>
        <dsp:cNvSpPr/>
      </dsp:nvSpPr>
      <dsp:spPr>
        <a:xfrm>
          <a:off x="0" y="0"/>
          <a:ext cx="2743200" cy="709295"/>
        </a:xfrm>
        <a:prstGeom prst="roundRect">
          <a:avLst/>
        </a:prstGeom>
        <a:solidFill>
          <a:schemeClr val="accent1"/>
        </a:solidFill>
      </dsp:spPr>
      <dsp:txBody>
        <a:bodyPr/>
        <a:lstStyle/>
        <a:p>
          <a:r>
            <a:rPr lang="en-US"/>
            <a:t>Plan</a:t>
          </a:r>
        </a:p>
      </dsp:txBody>
    </dsp:sp>
    <dsp:sp modelId="{7F2C4F4E-0002-4E2E-9F4E-000000000002}">
      <dsp:nvSpPr>
        <dsp:cNvPr id="0" name=""/>
        <dsp:cNvSpPr/>
      </dsp:nvSpPr>
      <dsp:spPr>
        <a:xfrm>
          <a:off x="0" y="790575"/>
          <a:ext cx="2743200" cy="709295"/>
        </a:xfrm>
        <a:prstGeom prst="roundRect">
          <a:avLst/>
        </a:prstGeom>
        <a:solidFill>
          <a:schemeClr val="accent1"/>
        </a:solidFill>
      </dsp:spPr>
      <dsp:txBody>
        <a:bodyPr/>
        <a:lstStyle/>
        <a:p>
          <a:r>
            <a:rPr lang="en-US"/>
            <a:t>Build</a:t>
          </a:r>
        </a:p>
      </dsp:txBody>
    </dsp:sp>
    <dsp:sp modelId="{7F2C4F4E-0003-4E2E-9F4E-000000000003}">
      <dsp:nvSpPr>
        <dsp:cNvPr id="0" name=""/>
        <dsp:cNvSpPr/>
      </dsp:nvSpPr>
      <dsp:spPr>
        <a:xfrm>
          <a:off x="0" y="1581150"/>
          <a:ext cx="2743200" cy="709295"/>
        </a:xfrm>
        <a:prstGeom prst="roundRect">
          <a:avLst/>
        </a:prstGeom>
        <a:solidFill>
          <a:schemeClr val="accent1"/>
        </a:solidFill>
      </dsp:spPr>
      <dsp:txBody>
        <a:bodyPr/>
        <a:lstStyle/>
        <a:p>
          <a:r>
            <a:rPr lang="en-US"/>
            <a:t>Ship</a:t>
          </a:r>
        </a:p>
      </dsp:txBody>
    </dsp:sp>
  </dsp:spTree>
</dsp:drawing>
</file>

<file path=ppt/diagrams/layout1.xml><?xml version="1.0" encoding="utf-8"?>
<dgm:layoutDef xmlns:dgm="http://schemas.openxmlformats.org/drawingml/2006/diagram" xmlns:r="http://schemas.openxmlformats.org/officeDocument/2006/relationships" uniqueId="urn:mjx-ooxml/layout/verticalList">
  <dgm:title val="Vertical list"/>
  <dgm:desc val="A vertical list of nodes, one per top-level item."/>
  <dgm:catLst>
    <dgm:cat type="list" pri="1000"/>
  </dgm:catLst>
  <dgm:sampData>
    <dgm:dataModel>
      <dgm:ptLst/>
    </dgm:dataModel>
  </dgm:sampData>
  <dgm:layoutNode name="diagram">
    <dgm:varLst>
      <dgm:chMax val="0"/>
      <dgm:dir val="norm"/>
      <dgm:resizeHandles val="exact"/>
    </dgm:varLst>
    <dgm:alg type="lin">
      <dgm:param type="linDir" val="fromT"/>
    </dgm:alg>
    <dgm:shape r:blip="">
      <dgm:adjLst/>
    </dgm:shape>
    <dgm:presOf/>
    <dgm:constrLst>
      <dgm:constr type="w" for="ch" ptType="node" refType="w"/>
      <dgm:constr type="h" for="ch" ptType="node" op="equ"/>
      <dgm:constr type="sibSp" refType="h" refFor="ch" refPtType="node" fact="0.1"/>
    </dgm:constrLst>
    <dgm:forEach name="nodes" axis="ch" ptType="node">
      <dgm:layoutNode name="node">
        <dgm:alg type="tx"/>
        <dgm:shape type="roundRect" r:blip="">
          <dgm:adjLst/>
        </dgm:shape>
        <dgm:presOf axis="desOrSelf" ptType="node"/>
        <dgm:constrLst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jx-ooxml/quickStyle/simple">
  <dgm:title val="Simple fill"/>
  <dgm:desc val="A plain filled node with an outline.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gradFill rotWithShape="1">
          <a:gsLst>
            <a:gs pos="0">
              <a:schemeClr val="bg1"/>
            </a:gs>
            <a:gs pos="100000">
              <a:schemeClr val="accent1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274320"/>
            <a:ext cx="731520" cy="45720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true">
                <a:solidFill>
                  <a:schemeClr val="accent1"/>
                </a:solidFill>
              </a:rPr>
              <a:t>Quarterly review</a:t>
            </a:r>
            <a:br>
              <a:rPr lang="en-US"/>
            </a:br>
            <a:r>
              <a:rPr b="true"/>
              <a:t> across EMEA and APAC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Revenue ahead of plan in every region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8000" t="6000" r="12000" b="9000"/>
          <a:stretch>
            <a:fillRect/>
          </a:stretch>
        </p:blipFill>
        <p:spPr>
          <a:xfrm>
            <a:off x="548640" y="1737360"/>
            <a:ext cx="2743200" cy="1828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37360"/>
            <a:ext cx="1828800" cy="1828800"/>
          </a:xfrm>
          <a:prstGeom prst="ellipse"/>
        </p:spPr>
      </p:pic>
      <p:sp>
        <p:nvSpPr>
          <p:cNvPr id="6" name="Shape 6"/>
          <p:cNvSpPr/>
          <p:nvPr/>
        </p:nvSpPr>
        <p:spPr>
          <a:xfrm>
            <a:off x="5669280" y="1737360"/>
            <a:ext cx="1097280" cy="1097280"/>
          </a:xfrm>
          <a:custGeom>
            <a:pathLst>
              <a:path w="1097280" h="1097280" fill="norm">
                <a:moveTo>
                  <a:pt x="0" y="0"/>
                </a:moveTo>
                <a:lnTo>
                  <a:pt x="548640" y="0"/>
                </a:lnTo>
                <a:lnTo>
                  <a:pt x="1097280" y="548640"/>
                </a:lnTo>
                <a:lnTo>
                  <a:pt x="548640" y="1097280"/>
                </a:lnTo>
                <a:lnTo>
                  <a:pt x="0" y="1097280"/>
                </a:lnTo>
                <a:lnTo>
                  <a:pt x="548640" y="548640"/>
                </a:lnTo>
                <a:close/>
              </a:path>
            </a:pathLst>
          </a:custGeom>
          <a:solidFill>
            <a:schemeClr val="accent2"/>
          </a:solidFill>
        </p:spPr>
        <p:txBody>
          <a:bodyPr/>
          <a:lstStyle/>
          <a:p>
            <a:r>
              <a:t/>
            </a:r>
          </a:p>
        </p:txBody>
      </p:sp>
      <p:graphicFrame>
        <p:nvGraphicFramePr>
          <p:cNvPr id="7" name="Chart 7"/>
          <p:cNvGraphicFramePr>
            <a:graphicFrameLocks noGrp="1"/>
          </p:cNvGraphicFramePr>
          <p:nvPr/>
        </p:nvGraphicFramePr>
        <p:xfrm>
          <a:off x="548640" y="3749040"/>
          <a:ext cx="475488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Diagram 8"/>
          <p:cNvGraphicFramePr>
            <a:graphicFrameLocks noGrp="1"/>
          </p:cNvGraphicFramePr>
          <p:nvPr/>
        </p:nvGraphicFramePr>
        <p:xfrm>
          <a:off x="5577840" y="3749040"/>
          <a:ext cx="2743200" cy="2377440"/>
        </p:xfrm>
        <a:graphic>
          <a:graphicData uri="http://schemas.openxmlformats.org/drawingml/2006/diagram">
            <dgm:relIds xmlns:dgm="http://schemas.openxmlformats.org/drawingml/2006/diagram" r:dm="rId4" r:lo="rId5" r:qs="rId6" r:cs="rId7"/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8595360" y="1737360"/>
          <a:ext cx="3108960" cy="1828800"/>
        </p:xfrm>
        <a:graphic>
          <a:graphicData uri="http://schemas.openxmlformats.org/drawingml/2006/table">
            <a:tbl>
              <a:tblPr firstRow="1" bandRow="1">
                <a:tableStyleId>{9F6E9C1B-0B4E-4A1E-9B3D-6C2A8F4D7E10}</a:tableStyleId>
              </a:tblPr>
              <a:tblGrid>
                <a:gridCol w="1036320"/>
                <a:gridCol w="1036320"/>
                <a:gridCol w="1036320"/>
              </a:tblGrid>
              <a:tr h="6096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1,310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Shape 10"/>
          <p:cNvSpPr/>
          <p:nvPr/>
        </p:nvSpPr>
        <p:spPr>
          <a:xfrm>
            <a:off x="548640" y="2971800"/>
            <a:ext cx="11064240" cy="548640"/>
          </a:xfrm>
          <a:prstGeom prst="roundRect">
            <a:avLst>
              <a:gd name="adj" fmla="val 25000"/>
            </a:avLst>
          </a:prstGeom>
          <a:solidFill>
            <a:srgbClr val="1F3864">
              <a:alpha val="35000"/>
            </a:srgbClr>
          </a:solidFill>
          <a:ln>
            <a:noFill/>
          </a:ln>
        </p:spPr>
        <p:txBody>
          <a:bodyPr/>
          <a:lstStyle/>
          <a:p>
            <a: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95360" y="3749040"/>
            <a:ext cx="3108960" cy="1828800"/>
          </a:xfrm>
          <a:prstGeom prst="rect">
            <a:avLst/>
          </a:prstGeom>
        </p:spPr>
        <p:txBody>
          <a:bodyPr/>
          <a:lstStyle/>
          <a:p>
            <a:pPr>
              <a:buFont typeface="Wingdings"/>
              <a:buChar char="§"/>
            </a:pPr>
            <a:r>
              <a:rPr u="sng"/>
              <a:t>Margin expanded</a:t>
            </a:r>
          </a:p>
          <a:p>
            <a:pPr>
              <a:buFont typeface="Wingdings"/>
              <a:buChar char="§"/>
            </a:pPr>
            <a:r>
              <a:rPr strike="sngStrike"/>
              <a:t>Pipeline healthy</a:t>
            </a:r>
          </a:p>
          <a:p>
            <a:pPr>
              <a:buFont typeface="Wingdings"/>
              <a:buChar char="§"/>
            </a:pPr>
            <a:r>
              <a:rPr>
                <a:highlight>
                  <a:srgbClr val="FFFF00"/>
                </a:highlight>
              </a:rPr>
              <a:t>Headcount flat</a:t>
            </a:r>
          </a:p>
        </p:txBody>
      </p:sp>
      <p:sp>
        <p:nvSpPr>
          <p:cNvPr id="800" name="Footer fields"/>
          <p:cNvSpPr txBox="1"/>
          <p:nvPr/>
        </p:nvSpPr>
        <p:spPr>
          <a:xfrm>
            <a:off x="548640" y="6217920"/>
            <a:ext cx="5486400" cy="365760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/>
              <a:t>5 January 2026</a:t>
            </a:fld>
            <a:r>
              <a:rPr lang="en-US"/>
              <a:t> | Corporate review | slide </a:t>
            </a:r>
            <a:fld id="{C1FF6DA9-008F-8B48-92A6-B652298478BF}" type="slidenum">
              <a:rPr lang="en-US"/>
              <a:t>1</a:t>
            </a:fld>
          </a:p>
        </p:txBody>
      </p:sp>
      <p:cxnSp>
        <p:nvCxnSpPr>
          <p:cNvPr id="810" name="Arrow connector"/>
          <p:cNvCxnSpPr/>
          <p:nvPr/>
        </p:nvCxnSpPr>
        <p:spPr>
          <a:xfrm>
            <a:off x="5715000" y="3108960"/>
            <a:ext cx="160020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arrow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